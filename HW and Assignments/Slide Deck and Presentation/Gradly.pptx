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4630400" cy="8229600"/>
  <p:notesSz cx="8229600" cy="14630400"/>
  <p:embeddedFontLs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Saira Medium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C6A027-AD4B-4CC6-99CB-DEED51C04C0F}" v="221" dt="2026-03-25T20:29:13.342"/>
    <p1510:client id="{412F492E-5F64-4A35-AC81-F4A9696BBFE9}" v="333" dt="2026-03-25T20:17:38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822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287726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Gradly</a:t>
            </a:r>
            <a:endParaRPr lang="en-US" sz="4450"/>
          </a:p>
        </p:txBody>
      </p:sp>
      <p:sp>
        <p:nvSpPr>
          <p:cNvPr id="4" name="Text 1"/>
          <p:cNvSpPr/>
          <p:nvPr/>
        </p:nvSpPr>
        <p:spPr>
          <a:xfrm>
            <a:off x="6280190" y="3676769"/>
            <a:ext cx="73137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Long-Term Academic Planning Platform for UC Students</a:t>
            </a:r>
            <a:endParaRPr lang="en-US" sz="2200"/>
          </a:p>
        </p:txBody>
      </p:sp>
      <p:sp>
        <p:nvSpPr>
          <p:cNvPr id="5" name="Text 2"/>
          <p:cNvSpPr/>
          <p:nvPr/>
        </p:nvSpPr>
        <p:spPr>
          <a:xfrm>
            <a:off x="6280190" y="437126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Team:</a:t>
            </a: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Saksh Menon, Kshitij Maurya</a:t>
            </a:r>
            <a:endParaRPr lang="en-US" sz="1750"/>
          </a:p>
        </p:txBody>
      </p:sp>
      <p:sp>
        <p:nvSpPr>
          <p:cNvPr id="6" name="Text 3"/>
          <p:cNvSpPr/>
          <p:nvPr/>
        </p:nvSpPr>
        <p:spPr>
          <a:xfrm>
            <a:off x="6280190" y="498931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Advisor:</a:t>
            </a: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Sonam Kandoi — IT Lead @ HelloFresh</a:t>
            </a:r>
            <a:endParaRPr lang="en-US" sz="17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FDDC38-1179-6EC0-07F5-C5512B0595B1}"/>
              </a:ext>
            </a:extLst>
          </p:cNvPr>
          <p:cNvSpPr/>
          <p:nvPr/>
        </p:nvSpPr>
        <p:spPr>
          <a:xfrm>
            <a:off x="12571561" y="7660800"/>
            <a:ext cx="2044800" cy="46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2438BF-C030-0897-8F4E-069A0FFC5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00" y="3204823"/>
            <a:ext cx="4442400" cy="23383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9378"/>
            <a:ext cx="91918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Problem with Current Planning</a:t>
            </a:r>
            <a:endParaRPr lang="en-US" sz="4450"/>
          </a:p>
        </p:txBody>
      </p:sp>
      <p:sp>
        <p:nvSpPr>
          <p:cNvPr id="3" name="Shape 1"/>
          <p:cNvSpPr/>
          <p:nvPr/>
        </p:nvSpPr>
        <p:spPr>
          <a:xfrm>
            <a:off x="793790" y="2851785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3310" y="2851785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2524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Fragmented Systems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1142524" y="3599497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Students rely on multiple disconnected tools just to check availability, track requirements, and compare schedules</a:t>
            </a:r>
            <a:endParaRPr lang="en-US" sz="1750"/>
          </a:p>
        </p:txBody>
      </p:sp>
      <p:sp>
        <p:nvSpPr>
          <p:cNvPr id="7" name="Shape 5"/>
          <p:cNvSpPr/>
          <p:nvPr/>
        </p:nvSpPr>
        <p:spPr>
          <a:xfrm>
            <a:off x="7428548" y="2851785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98067" y="2851785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7282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Unreliable Platform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7777282" y="3599497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Catalyst crashes during critical scheduling periods, creating stress and missed opportunities</a:t>
            </a:r>
            <a:endParaRPr lang="en-US" sz="1750"/>
          </a:p>
        </p:txBody>
      </p:sp>
      <p:sp>
        <p:nvSpPr>
          <p:cNvPr id="11" name="Shape 9"/>
          <p:cNvSpPr/>
          <p:nvPr/>
        </p:nvSpPr>
        <p:spPr>
          <a:xfrm>
            <a:off x="793790" y="4809411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3310" y="4809411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2524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Short-Term Focus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1142524" y="5557123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Planning happens last-minute instead of mapping multi-semester academic paths</a:t>
            </a:r>
            <a:endParaRPr lang="en-US" sz="175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98067" y="4809411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7282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Limited Coordination</a:t>
            </a:r>
            <a:endParaRPr lang="en-US" sz="2200"/>
          </a:p>
        </p:txBody>
      </p:sp>
      <p:sp>
        <p:nvSpPr>
          <p:cNvPr id="18" name="Text 16"/>
          <p:cNvSpPr/>
          <p:nvPr/>
        </p:nvSpPr>
        <p:spPr>
          <a:xfrm>
            <a:off x="7777282" y="5557123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Taking classes with friends requires texting, sharing screenshots, and manual comparison</a:t>
            </a:r>
            <a:endParaRPr lang="en-US" sz="17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1B04B8-C08C-3EE6-47E9-F8AABA1A4298}"/>
              </a:ext>
            </a:extLst>
          </p:cNvPr>
          <p:cNvSpPr/>
          <p:nvPr/>
        </p:nvSpPr>
        <p:spPr>
          <a:xfrm>
            <a:off x="12571561" y="7696800"/>
            <a:ext cx="2044800" cy="432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15959" y="84566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Why Students Need Better Planning</a:t>
            </a:r>
            <a:endParaRPr lang="en-US" sz="4450"/>
          </a:p>
        </p:txBody>
      </p:sp>
      <p:sp>
        <p:nvSpPr>
          <p:cNvPr id="4" name="Text 1"/>
          <p:cNvSpPr/>
          <p:nvPr/>
        </p:nvSpPr>
        <p:spPr>
          <a:xfrm>
            <a:off x="3815959" y="283019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Reality</a:t>
            </a:r>
            <a:endParaRPr lang="en-US" sz="2650"/>
          </a:p>
        </p:txBody>
      </p:sp>
      <p:sp>
        <p:nvSpPr>
          <p:cNvPr id="5" name="Text 2"/>
          <p:cNvSpPr/>
          <p:nvPr/>
        </p:nvSpPr>
        <p:spPr>
          <a:xfrm>
            <a:off x="3815959" y="3482301"/>
            <a:ext cx="3501509" cy="394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Students plan too late in the semester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Course offerings vary dramatically by term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Advisor availability is limited during peak times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Coordinating with peers is manual and time-consuming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Poor planning near graduation creates cascading problems</a:t>
            </a:r>
            <a:endParaRPr lang="en-US" sz="1750"/>
          </a:p>
        </p:txBody>
      </p:sp>
      <p:sp>
        <p:nvSpPr>
          <p:cNvPr id="6" name="Text 3"/>
          <p:cNvSpPr/>
          <p:nvPr/>
        </p:nvSpPr>
        <p:spPr>
          <a:xfrm>
            <a:off x="7878490" y="283019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Gradly's Solution</a:t>
            </a:r>
            <a:endParaRPr lang="en-US" sz="2650"/>
          </a:p>
        </p:txBody>
      </p:sp>
      <p:sp>
        <p:nvSpPr>
          <p:cNvPr id="7" name="Text 4"/>
          <p:cNvSpPr/>
          <p:nvPr/>
        </p:nvSpPr>
        <p:spPr>
          <a:xfrm>
            <a:off x="7878490" y="3482301"/>
            <a:ext cx="3501509" cy="394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Centralized, long-term academic roadmap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Proactive planning instead of reactive scheduling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Peer coordination built into the platform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Informed decisions made months in advance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risk of delayed graduation</a:t>
            </a:r>
            <a:endParaRPr lang="en-US" sz="17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96A5DF-BC76-95AD-EC45-1A39E52D9D0F}"/>
              </a:ext>
            </a:extLst>
          </p:cNvPr>
          <p:cNvSpPr/>
          <p:nvPr/>
        </p:nvSpPr>
        <p:spPr>
          <a:xfrm>
            <a:off x="12571561" y="7668000"/>
            <a:ext cx="2044800" cy="460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8585"/>
            <a:ext cx="80386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What Makes Gradly Innovative</a:t>
            </a:r>
            <a:endParaRPr lang="en-US" sz="44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220992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Auto-Scheduler</a:t>
            </a:r>
            <a:endParaRPr lang="en-US" sz="2200"/>
          </a:p>
        </p:txBody>
      </p:sp>
      <p:sp>
        <p:nvSpPr>
          <p:cNvPr id="5" name="Text 2"/>
          <p:cNvSpPr/>
          <p:nvPr/>
        </p:nvSpPr>
        <p:spPr>
          <a:xfrm>
            <a:off x="793790" y="3561874"/>
            <a:ext cx="63796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Intelligent algorithm generates reasonable multi-semester scheduling options, reducing manual planning effort from hours to minutes</a:t>
            </a:r>
            <a:endParaRPr lang="en-US" sz="175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220992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Peer Collaboration</a:t>
            </a:r>
            <a:endParaRPr lang="en-US" sz="2200"/>
          </a:p>
        </p:txBody>
      </p:sp>
      <p:sp>
        <p:nvSpPr>
          <p:cNvPr id="8" name="Text 4"/>
          <p:cNvSpPr/>
          <p:nvPr/>
        </p:nvSpPr>
        <p:spPr>
          <a:xfrm>
            <a:off x="7456884" y="3561874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 with classmates, view compatible schedules, and coordinate course selection within one unified platform</a:t>
            </a:r>
            <a:endParaRPr lang="en-US" sz="175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5104209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9546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University-Focused</a:t>
            </a:r>
            <a:endParaRPr lang="en-US" sz="2200"/>
          </a:p>
        </p:txBody>
      </p:sp>
      <p:sp>
        <p:nvSpPr>
          <p:cNvPr id="11" name="Text 6"/>
          <p:cNvSpPr/>
          <p:nvPr/>
        </p:nvSpPr>
        <p:spPr>
          <a:xfrm>
            <a:off x="793790" y="6445091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specifically for UC students with institutional context, not a generic tool retrofitted for academia</a:t>
            </a:r>
            <a:endParaRPr lang="en-US" sz="175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5104209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9546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Student Reviews</a:t>
            </a:r>
            <a:endParaRPr lang="en-US" sz="2200"/>
          </a:p>
        </p:txBody>
      </p:sp>
      <p:sp>
        <p:nvSpPr>
          <p:cNvPr id="14" name="Text 8"/>
          <p:cNvSpPr/>
          <p:nvPr/>
        </p:nvSpPr>
        <p:spPr>
          <a:xfrm>
            <a:off x="7456884" y="6445091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 rankings, professor ratings, and peer feedback provide actionable insights beyond static course catalogs</a:t>
            </a:r>
            <a:endParaRPr lang="en-US" sz="17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1CE83F-8191-2534-9B19-0C645782EEED}"/>
              </a:ext>
            </a:extLst>
          </p:cNvPr>
          <p:cNvSpPr/>
          <p:nvPr/>
        </p:nvSpPr>
        <p:spPr>
          <a:xfrm>
            <a:off x="12571561" y="7689600"/>
            <a:ext cx="2044800" cy="4392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020" y="827723"/>
            <a:ext cx="7351395" cy="655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System Architecture Overview</a:t>
            </a:r>
            <a:endParaRPr lang="en-US" sz="41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20" y="1870948"/>
            <a:ext cx="4387453" cy="838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3689" y="2903696"/>
            <a:ext cx="2621637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Next.js Frontend</a:t>
            </a:r>
            <a:endParaRPr lang="en-US" sz="2050"/>
          </a:p>
        </p:txBody>
      </p:sp>
      <p:sp>
        <p:nvSpPr>
          <p:cNvPr id="5" name="Text 2"/>
          <p:cNvSpPr/>
          <p:nvPr/>
        </p:nvSpPr>
        <p:spPr>
          <a:xfrm>
            <a:off x="943689" y="3347680"/>
            <a:ext cx="3968115" cy="645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TypeScript-based interface with responsive design</a:t>
            </a:r>
            <a:endParaRPr lang="en-US" sz="165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1473" y="1870948"/>
            <a:ext cx="4387453" cy="8389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31143" y="2903696"/>
            <a:ext cx="2621637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Backend API</a:t>
            </a:r>
            <a:endParaRPr lang="en-US" sz="2050"/>
          </a:p>
        </p:txBody>
      </p:sp>
      <p:sp>
        <p:nvSpPr>
          <p:cNvPr id="8" name="Text 4"/>
          <p:cNvSpPr/>
          <p:nvPr/>
        </p:nvSpPr>
        <p:spPr>
          <a:xfrm>
            <a:off x="5331143" y="3347680"/>
            <a:ext cx="3968115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database management and core logic</a:t>
            </a:r>
            <a:endParaRPr lang="en-US" sz="165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8927" y="1870948"/>
            <a:ext cx="4387453" cy="8389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8596" y="2903696"/>
            <a:ext cx="2621637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Python Engine</a:t>
            </a:r>
            <a:endParaRPr lang="en-US" sz="2050"/>
          </a:p>
        </p:txBody>
      </p:sp>
      <p:sp>
        <p:nvSpPr>
          <p:cNvPr id="11" name="Text 6"/>
          <p:cNvSpPr/>
          <p:nvPr/>
        </p:nvSpPr>
        <p:spPr>
          <a:xfrm>
            <a:off x="9718596" y="3347680"/>
            <a:ext cx="3968115" cy="645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Scheduling algorithms and data processing</a:t>
            </a:r>
            <a:endParaRPr lang="en-US" sz="1650"/>
          </a:p>
        </p:txBody>
      </p:sp>
      <p:sp>
        <p:nvSpPr>
          <p:cNvPr id="12" name="Shape 7"/>
          <p:cNvSpPr/>
          <p:nvPr/>
        </p:nvSpPr>
        <p:spPr>
          <a:xfrm>
            <a:off x="734020" y="4421267"/>
            <a:ext cx="3145155" cy="1554837"/>
          </a:xfrm>
          <a:prstGeom prst="roundRect">
            <a:avLst>
              <a:gd name="adj" fmla="val 1214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966549" y="4653796"/>
            <a:ext cx="2621637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Dashboard</a:t>
            </a:r>
            <a:endParaRPr lang="en-US" sz="2050"/>
          </a:p>
        </p:txBody>
      </p:sp>
      <p:sp>
        <p:nvSpPr>
          <p:cNvPr id="14" name="Text 9"/>
          <p:cNvSpPr/>
          <p:nvPr/>
        </p:nvSpPr>
        <p:spPr>
          <a:xfrm>
            <a:off x="966549" y="5097780"/>
            <a:ext cx="2680097" cy="645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Degree progress, semester tracking, GPA, alerts</a:t>
            </a:r>
            <a:endParaRPr lang="en-US" sz="1650"/>
          </a:p>
        </p:txBody>
      </p:sp>
      <p:sp>
        <p:nvSpPr>
          <p:cNvPr id="15" name="Shape 10"/>
          <p:cNvSpPr/>
          <p:nvPr/>
        </p:nvSpPr>
        <p:spPr>
          <a:xfrm>
            <a:off x="4073009" y="4421267"/>
            <a:ext cx="3145274" cy="1554837"/>
          </a:xfrm>
          <a:prstGeom prst="roundRect">
            <a:avLst>
              <a:gd name="adj" fmla="val 1214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4305538" y="4653796"/>
            <a:ext cx="2621637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Planner</a:t>
            </a:r>
            <a:endParaRPr lang="en-US" sz="2050"/>
          </a:p>
        </p:txBody>
      </p:sp>
      <p:sp>
        <p:nvSpPr>
          <p:cNvPr id="17" name="Text 12"/>
          <p:cNvSpPr/>
          <p:nvPr/>
        </p:nvSpPr>
        <p:spPr>
          <a:xfrm>
            <a:off x="4305538" y="5097780"/>
            <a:ext cx="2680216" cy="645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Multi-semester scheduling and long-term roadmap</a:t>
            </a:r>
            <a:endParaRPr lang="en-US" sz="1650"/>
          </a:p>
        </p:txBody>
      </p:sp>
      <p:sp>
        <p:nvSpPr>
          <p:cNvPr id="18" name="Shape 13"/>
          <p:cNvSpPr/>
          <p:nvPr/>
        </p:nvSpPr>
        <p:spPr>
          <a:xfrm>
            <a:off x="7412117" y="4421267"/>
            <a:ext cx="3145155" cy="1554837"/>
          </a:xfrm>
          <a:prstGeom prst="roundRect">
            <a:avLst>
              <a:gd name="adj" fmla="val 1214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7644646" y="4653796"/>
            <a:ext cx="2621637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Social Features</a:t>
            </a:r>
            <a:endParaRPr lang="en-US" sz="2050"/>
          </a:p>
        </p:txBody>
      </p:sp>
      <p:sp>
        <p:nvSpPr>
          <p:cNvPr id="20" name="Text 15"/>
          <p:cNvSpPr/>
          <p:nvPr/>
        </p:nvSpPr>
        <p:spPr>
          <a:xfrm>
            <a:off x="7644646" y="5097780"/>
            <a:ext cx="2680097" cy="645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View, copy, and compare peer schedules</a:t>
            </a:r>
            <a:endParaRPr lang="en-US" sz="1650"/>
          </a:p>
        </p:txBody>
      </p:sp>
      <p:sp>
        <p:nvSpPr>
          <p:cNvPr id="21" name="Shape 16"/>
          <p:cNvSpPr/>
          <p:nvPr/>
        </p:nvSpPr>
        <p:spPr>
          <a:xfrm>
            <a:off x="10751106" y="4421267"/>
            <a:ext cx="3145274" cy="1554837"/>
          </a:xfrm>
          <a:prstGeom prst="roundRect">
            <a:avLst>
              <a:gd name="adj" fmla="val 1214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10983635" y="4653796"/>
            <a:ext cx="2621637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Class Info</a:t>
            </a:r>
            <a:endParaRPr lang="en-US" sz="2050"/>
          </a:p>
        </p:txBody>
      </p:sp>
      <p:sp>
        <p:nvSpPr>
          <p:cNvPr id="23" name="Text 18"/>
          <p:cNvSpPr/>
          <p:nvPr/>
        </p:nvSpPr>
        <p:spPr>
          <a:xfrm>
            <a:off x="10983635" y="5097780"/>
            <a:ext cx="2680216" cy="645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Course discovery with peer ratings and reviews</a:t>
            </a:r>
            <a:endParaRPr lang="en-US" sz="1650"/>
          </a:p>
        </p:txBody>
      </p:sp>
      <p:sp>
        <p:nvSpPr>
          <p:cNvPr id="24" name="Shape 19"/>
          <p:cNvSpPr/>
          <p:nvPr/>
        </p:nvSpPr>
        <p:spPr>
          <a:xfrm>
            <a:off x="734020" y="6169938"/>
            <a:ext cx="13162359" cy="1231940"/>
          </a:xfrm>
          <a:prstGeom prst="roundRect">
            <a:avLst>
              <a:gd name="adj" fmla="val 15323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966549" y="6402467"/>
            <a:ext cx="2621637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Profile</a:t>
            </a:r>
            <a:endParaRPr lang="en-US" sz="2050"/>
          </a:p>
        </p:txBody>
      </p:sp>
      <p:sp>
        <p:nvSpPr>
          <p:cNvPr id="26" name="Text 21"/>
          <p:cNvSpPr/>
          <p:nvPr/>
        </p:nvSpPr>
        <p:spPr>
          <a:xfrm>
            <a:off x="966549" y="6846451"/>
            <a:ext cx="12697301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Academic info, major, preferences, starting term</a:t>
            </a:r>
            <a:endParaRPr lang="en-US" sz="16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C4E5AD0-1E59-F6A3-E518-F351C6115225}"/>
              </a:ext>
            </a:extLst>
          </p:cNvPr>
          <p:cNvSpPr/>
          <p:nvPr/>
        </p:nvSpPr>
        <p:spPr>
          <a:xfrm>
            <a:off x="12571561" y="7687508"/>
            <a:ext cx="2044800" cy="44129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55256" y="1075571"/>
            <a:ext cx="67198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Technical Implementation</a:t>
            </a:r>
            <a:endParaRPr lang="en-US" sz="4450"/>
          </a:p>
        </p:txBody>
      </p:sp>
      <p:sp>
        <p:nvSpPr>
          <p:cNvPr id="4" name="Text 1"/>
          <p:cNvSpPr/>
          <p:nvPr/>
        </p:nvSpPr>
        <p:spPr>
          <a:xfrm>
            <a:off x="6280190" y="231183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Core Technologies</a:t>
            </a:r>
            <a:endParaRPr lang="en-US" sz="2650"/>
          </a:p>
        </p:txBody>
      </p:sp>
      <p:sp>
        <p:nvSpPr>
          <p:cNvPr id="5" name="Text 2"/>
          <p:cNvSpPr/>
          <p:nvPr/>
        </p:nvSpPr>
        <p:spPr>
          <a:xfrm>
            <a:off x="6280190" y="2963942"/>
            <a:ext cx="471797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primarily in </a:t>
            </a:r>
            <a:r>
              <a:rPr lang="en-US" sz="1750" b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TypeScript</a:t>
            </a: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using the </a:t>
            </a:r>
            <a:r>
              <a:rPr lang="en-US" sz="1750" b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Next.js framework</a:t>
            </a: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modern web development structure and responsive interface design.</a:t>
            </a:r>
            <a:endParaRPr lang="en-US" sz="1750"/>
          </a:p>
        </p:txBody>
      </p:sp>
      <p:sp>
        <p:nvSpPr>
          <p:cNvPr id="6" name="Text 3"/>
          <p:cNvSpPr/>
          <p:nvPr/>
        </p:nvSpPr>
        <p:spPr>
          <a:xfrm>
            <a:off x="6280190" y="4256723"/>
            <a:ext cx="471797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supported by </a:t>
            </a:r>
            <a:r>
              <a:rPr lang="en-US" sz="1750" b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SQL-based systems</a:t>
            </a: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managing academic and user data. Python scripts handle class offering retrieval, scheduling logic, and data processing.</a:t>
            </a:r>
            <a:endParaRPr lang="en-US" sz="1750"/>
          </a:p>
        </p:txBody>
      </p:sp>
      <p:sp>
        <p:nvSpPr>
          <p:cNvPr id="7" name="Shape 4"/>
          <p:cNvSpPr/>
          <p:nvPr/>
        </p:nvSpPr>
        <p:spPr>
          <a:xfrm>
            <a:off x="11395829" y="2085023"/>
            <a:ext cx="2611636" cy="5108496"/>
          </a:xfrm>
          <a:prstGeom prst="roundRect">
            <a:avLst>
              <a:gd name="adj" fmla="val 12507"/>
            </a:avLst>
          </a:prstGeom>
          <a:solidFill>
            <a:srgbClr val="FC8337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1622643" y="2311837"/>
            <a:ext cx="215800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Design Priorities</a:t>
            </a:r>
            <a:endParaRPr lang="en-US" sz="2200"/>
          </a:p>
        </p:txBody>
      </p:sp>
      <p:sp>
        <p:nvSpPr>
          <p:cNvPr id="9" name="Text 6"/>
          <p:cNvSpPr/>
          <p:nvPr/>
        </p:nvSpPr>
        <p:spPr>
          <a:xfrm>
            <a:off x="11622643" y="3247311"/>
            <a:ext cx="2158008" cy="386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Scalability for growing user base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Modularity for feature expansion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 UI/UX principles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Academic planning clarity</a:t>
            </a:r>
            <a:endParaRPr lang="en-US" sz="17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C46723-323B-8311-8D0A-7FD73B3589C5}"/>
              </a:ext>
            </a:extLst>
          </p:cNvPr>
          <p:cNvSpPr/>
          <p:nvPr/>
        </p:nvSpPr>
        <p:spPr>
          <a:xfrm>
            <a:off x="12571561" y="7646400"/>
            <a:ext cx="2044800" cy="48239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B77C3D8-51A8-DD03-580B-3FB9E4F04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" y="5912406"/>
            <a:ext cx="7027340" cy="15172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155D593-80B8-863E-A086-C43855078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65" y="2280042"/>
            <a:ext cx="5432311" cy="35452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5138"/>
            <a:ext cx="75929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Key Features We're Proud Of</a:t>
            </a:r>
            <a:endParaRPr lang="en-US" sz="4450"/>
          </a:p>
        </p:txBody>
      </p:sp>
      <p:sp>
        <p:nvSpPr>
          <p:cNvPr id="4" name="Text 1"/>
          <p:cNvSpPr/>
          <p:nvPr/>
        </p:nvSpPr>
        <p:spPr>
          <a:xfrm>
            <a:off x="793790" y="55452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Auto Scheduler</a:t>
            </a:r>
            <a:endParaRPr lang="en-US" sz="2200"/>
          </a:p>
        </p:txBody>
      </p:sp>
      <p:sp>
        <p:nvSpPr>
          <p:cNvPr id="5" name="Text 2"/>
          <p:cNvSpPr/>
          <p:nvPr/>
        </p:nvSpPr>
        <p:spPr>
          <a:xfrm>
            <a:off x="793790" y="603563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Long-term planning reduces manual schedule building from hours to minutes with intelligent recommendations</a:t>
            </a:r>
            <a:endParaRPr lang="en-US" sz="1750"/>
          </a:p>
        </p:txBody>
      </p:sp>
      <p:sp>
        <p:nvSpPr>
          <p:cNvPr id="7" name="Text 3"/>
          <p:cNvSpPr/>
          <p:nvPr/>
        </p:nvSpPr>
        <p:spPr>
          <a:xfrm>
            <a:off x="5235893" y="55452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Peer Reviews</a:t>
            </a:r>
            <a:endParaRPr lang="en-US" sz="2200"/>
          </a:p>
        </p:txBody>
      </p:sp>
      <p:sp>
        <p:nvSpPr>
          <p:cNvPr id="8" name="Text 4"/>
          <p:cNvSpPr/>
          <p:nvPr/>
        </p:nvSpPr>
        <p:spPr>
          <a:xfrm>
            <a:off x="5235893" y="603563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 and professor insights from actual students support better decision-making with real experiences</a:t>
            </a:r>
            <a:endParaRPr lang="en-US" sz="1750"/>
          </a:p>
        </p:txBody>
      </p:sp>
      <p:sp>
        <p:nvSpPr>
          <p:cNvPr id="10" name="Text 5"/>
          <p:cNvSpPr/>
          <p:nvPr/>
        </p:nvSpPr>
        <p:spPr>
          <a:xfrm>
            <a:off x="9677995" y="55452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Copy Schedule</a:t>
            </a:r>
            <a:endParaRPr lang="en-US" sz="2200"/>
          </a:p>
        </p:txBody>
      </p:sp>
      <p:sp>
        <p:nvSpPr>
          <p:cNvPr id="11" name="Text 6"/>
          <p:cNvSpPr/>
          <p:nvPr/>
        </p:nvSpPr>
        <p:spPr>
          <a:xfrm>
            <a:off x="9677995" y="603563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adopt or compare peer schedules, simplifying coordination with classmates and friends</a:t>
            </a:r>
            <a:endParaRPr lang="en-US" sz="17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CE405D-F466-6A4B-EE93-D13ADE216F49}"/>
              </a:ext>
            </a:extLst>
          </p:cNvPr>
          <p:cNvSpPr/>
          <p:nvPr/>
        </p:nvSpPr>
        <p:spPr>
          <a:xfrm>
            <a:off x="12571561" y="7682400"/>
            <a:ext cx="2044800" cy="4464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7D4370-F9CE-349B-B510-29FBEA85C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25" y="2901075"/>
            <a:ext cx="3997350" cy="234105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B039FF-65DD-190F-25A4-377C89AA69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1979" y="2757600"/>
            <a:ext cx="2619242" cy="2620800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7B1B4B-FCBA-1CEF-026D-6D2F889A7B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0825" y="2501475"/>
            <a:ext cx="3720750" cy="2729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29264" y="653772"/>
            <a:ext cx="464308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Development Milestones</a:t>
            </a:r>
            <a:endParaRPr lang="en-US" sz="3150"/>
          </a:p>
        </p:txBody>
      </p:sp>
      <p:sp>
        <p:nvSpPr>
          <p:cNvPr id="3" name="Shape 1"/>
          <p:cNvSpPr/>
          <p:nvPr/>
        </p:nvSpPr>
        <p:spPr>
          <a:xfrm>
            <a:off x="7303770" y="1390888"/>
            <a:ext cx="22860" cy="6184821"/>
          </a:xfrm>
          <a:prstGeom prst="roundRect">
            <a:avLst>
              <a:gd name="adj" fmla="val 637452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670298" y="1561505"/>
            <a:ext cx="485656" cy="22860"/>
          </a:xfrm>
          <a:prstGeom prst="roundRect">
            <a:avLst>
              <a:gd name="adj" fmla="val 63745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3094" y="1390888"/>
            <a:ext cx="364212" cy="364212"/>
          </a:xfrm>
          <a:prstGeom prst="roundRect">
            <a:avLst>
              <a:gd name="adj" fmla="val 40010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93756" y="1421190"/>
            <a:ext cx="242768" cy="30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1900"/>
          </a:p>
        </p:txBody>
      </p:sp>
      <p:sp>
        <p:nvSpPr>
          <p:cNvPr id="7" name="Text 5"/>
          <p:cNvSpPr/>
          <p:nvPr/>
        </p:nvSpPr>
        <p:spPr>
          <a:xfrm>
            <a:off x="4481870" y="1446490"/>
            <a:ext cx="2023824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Framework Setup</a:t>
            </a:r>
            <a:endParaRPr lang="en-US" sz="1550"/>
          </a:p>
        </p:txBody>
      </p:sp>
      <p:sp>
        <p:nvSpPr>
          <p:cNvPr id="8" name="Text 6"/>
          <p:cNvSpPr/>
          <p:nvPr/>
        </p:nvSpPr>
        <p:spPr>
          <a:xfrm>
            <a:off x="1729264" y="1768793"/>
            <a:ext cx="4776430" cy="221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2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Next.js foundation and TypeScript architecture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7474446" y="2440186"/>
            <a:ext cx="485656" cy="22860"/>
          </a:xfrm>
          <a:prstGeom prst="roundRect">
            <a:avLst>
              <a:gd name="adj" fmla="val 63745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33094" y="2269569"/>
            <a:ext cx="364212" cy="364212"/>
          </a:xfrm>
          <a:prstGeom prst="roundRect">
            <a:avLst>
              <a:gd name="adj" fmla="val 40010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93756" y="2299871"/>
            <a:ext cx="242768" cy="30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1900"/>
          </a:p>
        </p:txBody>
      </p:sp>
      <p:sp>
        <p:nvSpPr>
          <p:cNvPr id="12" name="Text 10"/>
          <p:cNvSpPr/>
          <p:nvPr/>
        </p:nvSpPr>
        <p:spPr>
          <a:xfrm>
            <a:off x="8124706" y="2325172"/>
            <a:ext cx="2023824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Authentication</a:t>
            </a:r>
            <a:endParaRPr lang="en-US" sz="1550"/>
          </a:p>
        </p:txBody>
      </p:sp>
      <p:sp>
        <p:nvSpPr>
          <p:cNvPr id="13" name="Text 11"/>
          <p:cNvSpPr/>
          <p:nvPr/>
        </p:nvSpPr>
        <p:spPr>
          <a:xfrm>
            <a:off x="8124706" y="2647474"/>
            <a:ext cx="4776430" cy="221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Login and sign-up system implementation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6670298" y="3231118"/>
            <a:ext cx="485656" cy="22860"/>
          </a:xfrm>
          <a:prstGeom prst="roundRect">
            <a:avLst>
              <a:gd name="adj" fmla="val 63745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3094" y="3060502"/>
            <a:ext cx="364212" cy="364212"/>
          </a:xfrm>
          <a:prstGeom prst="roundRect">
            <a:avLst>
              <a:gd name="adj" fmla="val 40010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93756" y="3090803"/>
            <a:ext cx="242768" cy="30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1900"/>
          </a:p>
        </p:txBody>
      </p:sp>
      <p:sp>
        <p:nvSpPr>
          <p:cNvPr id="17" name="Text 15"/>
          <p:cNvSpPr/>
          <p:nvPr/>
        </p:nvSpPr>
        <p:spPr>
          <a:xfrm>
            <a:off x="4481870" y="3116104"/>
            <a:ext cx="2023824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Profile &amp; Class Data</a:t>
            </a:r>
            <a:endParaRPr lang="en-US" sz="1550"/>
          </a:p>
        </p:txBody>
      </p:sp>
      <p:sp>
        <p:nvSpPr>
          <p:cNvPr id="18" name="Text 16"/>
          <p:cNvSpPr/>
          <p:nvPr/>
        </p:nvSpPr>
        <p:spPr>
          <a:xfrm>
            <a:off x="1729264" y="3438406"/>
            <a:ext cx="4776430" cy="221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2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profiles and course information management</a:t>
            </a:r>
            <a:endParaRPr lang="en-US" sz="1250"/>
          </a:p>
        </p:txBody>
      </p:sp>
      <p:sp>
        <p:nvSpPr>
          <p:cNvPr id="19" name="Shape 17"/>
          <p:cNvSpPr/>
          <p:nvPr/>
        </p:nvSpPr>
        <p:spPr>
          <a:xfrm>
            <a:off x="7474446" y="4022169"/>
            <a:ext cx="485656" cy="22860"/>
          </a:xfrm>
          <a:prstGeom prst="roundRect">
            <a:avLst>
              <a:gd name="adj" fmla="val 63745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33094" y="3851553"/>
            <a:ext cx="364212" cy="364212"/>
          </a:xfrm>
          <a:prstGeom prst="roundRect">
            <a:avLst>
              <a:gd name="adj" fmla="val 40010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93756" y="3881854"/>
            <a:ext cx="242768" cy="30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4</a:t>
            </a:r>
            <a:endParaRPr lang="en-US" sz="1900"/>
          </a:p>
        </p:txBody>
      </p:sp>
      <p:sp>
        <p:nvSpPr>
          <p:cNvPr id="22" name="Text 20"/>
          <p:cNvSpPr/>
          <p:nvPr/>
        </p:nvSpPr>
        <p:spPr>
          <a:xfrm>
            <a:off x="8124706" y="3907155"/>
            <a:ext cx="2023824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Planner &amp; Search</a:t>
            </a:r>
            <a:endParaRPr lang="en-US" sz="1550"/>
          </a:p>
        </p:txBody>
      </p:sp>
      <p:sp>
        <p:nvSpPr>
          <p:cNvPr id="23" name="Text 21"/>
          <p:cNvSpPr/>
          <p:nvPr/>
        </p:nvSpPr>
        <p:spPr>
          <a:xfrm>
            <a:off x="8124706" y="4229457"/>
            <a:ext cx="4776430" cy="221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Long-term scheduling with search capabilities</a:t>
            </a:r>
            <a:endParaRPr lang="en-US" sz="1250"/>
          </a:p>
        </p:txBody>
      </p:sp>
      <p:sp>
        <p:nvSpPr>
          <p:cNvPr id="24" name="Shape 22"/>
          <p:cNvSpPr/>
          <p:nvPr/>
        </p:nvSpPr>
        <p:spPr>
          <a:xfrm>
            <a:off x="6670298" y="4813221"/>
            <a:ext cx="485656" cy="22860"/>
          </a:xfrm>
          <a:prstGeom prst="roundRect">
            <a:avLst>
              <a:gd name="adj" fmla="val 63745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133094" y="4642604"/>
            <a:ext cx="364212" cy="364212"/>
          </a:xfrm>
          <a:prstGeom prst="roundRect">
            <a:avLst>
              <a:gd name="adj" fmla="val 40010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93756" y="4672905"/>
            <a:ext cx="242768" cy="30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5</a:t>
            </a:r>
            <a:endParaRPr lang="en-US" sz="1900"/>
          </a:p>
        </p:txBody>
      </p:sp>
      <p:sp>
        <p:nvSpPr>
          <p:cNvPr id="27" name="Text 25"/>
          <p:cNvSpPr/>
          <p:nvPr/>
        </p:nvSpPr>
        <p:spPr>
          <a:xfrm>
            <a:off x="4481870" y="4698206"/>
            <a:ext cx="2023824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Auto Scheduler</a:t>
            </a:r>
            <a:endParaRPr lang="en-US" sz="1550"/>
          </a:p>
        </p:txBody>
      </p:sp>
      <p:sp>
        <p:nvSpPr>
          <p:cNvPr id="28" name="Text 26"/>
          <p:cNvSpPr/>
          <p:nvPr/>
        </p:nvSpPr>
        <p:spPr>
          <a:xfrm>
            <a:off x="1729264" y="5020508"/>
            <a:ext cx="4776430" cy="221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2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Intelligent multi-semester planning algorithms</a:t>
            </a:r>
            <a:endParaRPr lang="en-US" sz="1250"/>
          </a:p>
        </p:txBody>
      </p:sp>
      <p:sp>
        <p:nvSpPr>
          <p:cNvPr id="29" name="Shape 27"/>
          <p:cNvSpPr/>
          <p:nvPr/>
        </p:nvSpPr>
        <p:spPr>
          <a:xfrm>
            <a:off x="7474446" y="5604272"/>
            <a:ext cx="485656" cy="22860"/>
          </a:xfrm>
          <a:prstGeom prst="roundRect">
            <a:avLst>
              <a:gd name="adj" fmla="val 63745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33094" y="5433655"/>
            <a:ext cx="364212" cy="364212"/>
          </a:xfrm>
          <a:prstGeom prst="roundRect">
            <a:avLst>
              <a:gd name="adj" fmla="val 40010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93756" y="5463957"/>
            <a:ext cx="242768" cy="30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6</a:t>
            </a:r>
            <a:endParaRPr lang="en-US" sz="1900"/>
          </a:p>
        </p:txBody>
      </p:sp>
      <p:sp>
        <p:nvSpPr>
          <p:cNvPr id="32" name="Text 30"/>
          <p:cNvSpPr/>
          <p:nvPr/>
        </p:nvSpPr>
        <p:spPr>
          <a:xfrm>
            <a:off x="8124706" y="5489258"/>
            <a:ext cx="2023824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Social Features</a:t>
            </a:r>
            <a:endParaRPr lang="en-US" sz="1550"/>
          </a:p>
        </p:txBody>
      </p:sp>
      <p:sp>
        <p:nvSpPr>
          <p:cNvPr id="33" name="Text 31"/>
          <p:cNvSpPr/>
          <p:nvPr/>
        </p:nvSpPr>
        <p:spPr>
          <a:xfrm>
            <a:off x="8124706" y="5811560"/>
            <a:ext cx="4776430" cy="221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Peer connections and Copy Schedule functionality</a:t>
            </a:r>
            <a:endParaRPr lang="en-US" sz="1250"/>
          </a:p>
        </p:txBody>
      </p:sp>
      <p:sp>
        <p:nvSpPr>
          <p:cNvPr id="34" name="Shape 32"/>
          <p:cNvSpPr/>
          <p:nvPr/>
        </p:nvSpPr>
        <p:spPr>
          <a:xfrm>
            <a:off x="6670298" y="6395323"/>
            <a:ext cx="485656" cy="22860"/>
          </a:xfrm>
          <a:prstGeom prst="roundRect">
            <a:avLst>
              <a:gd name="adj" fmla="val 63745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133094" y="6224707"/>
            <a:ext cx="364212" cy="364212"/>
          </a:xfrm>
          <a:prstGeom prst="roundRect">
            <a:avLst>
              <a:gd name="adj" fmla="val 40010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193756" y="6255008"/>
            <a:ext cx="242768" cy="30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7</a:t>
            </a:r>
            <a:endParaRPr lang="en-US" sz="1900"/>
          </a:p>
        </p:txBody>
      </p:sp>
      <p:sp>
        <p:nvSpPr>
          <p:cNvPr id="37" name="Text 35"/>
          <p:cNvSpPr/>
          <p:nvPr/>
        </p:nvSpPr>
        <p:spPr>
          <a:xfrm>
            <a:off x="4481870" y="6280309"/>
            <a:ext cx="2023824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55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Class Reviews</a:t>
            </a:r>
            <a:endParaRPr lang="en-US" sz="1550"/>
          </a:p>
        </p:txBody>
      </p:sp>
      <p:sp>
        <p:nvSpPr>
          <p:cNvPr id="38" name="Text 36"/>
          <p:cNvSpPr/>
          <p:nvPr/>
        </p:nvSpPr>
        <p:spPr>
          <a:xfrm>
            <a:off x="1729264" y="6602611"/>
            <a:ext cx="4776430" cy="221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2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feedback and rating system integration</a:t>
            </a:r>
            <a:endParaRPr lang="en-US" sz="12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CC408C0-C98B-62E4-DC77-8760C00F55B4}"/>
              </a:ext>
            </a:extLst>
          </p:cNvPr>
          <p:cNvSpPr/>
          <p:nvPr/>
        </p:nvSpPr>
        <p:spPr>
          <a:xfrm>
            <a:off x="12571561" y="7718400"/>
            <a:ext cx="2044800" cy="4104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359218"/>
            <a:ext cx="61539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Results &amp; Future Vision</a:t>
            </a:r>
            <a:endParaRPr lang="en-US" sz="4450"/>
          </a:p>
        </p:txBody>
      </p:sp>
      <p:sp>
        <p:nvSpPr>
          <p:cNvPr id="4" name="Text 1"/>
          <p:cNvSpPr/>
          <p:nvPr/>
        </p:nvSpPr>
        <p:spPr>
          <a:xfrm>
            <a:off x="6280190" y="263497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Completed Features</a:t>
            </a:r>
            <a:endParaRPr lang="en-US" sz="2650"/>
          </a:p>
        </p:txBody>
      </p:sp>
      <p:sp>
        <p:nvSpPr>
          <p:cNvPr id="5" name="Text 2"/>
          <p:cNvSpPr/>
          <p:nvPr/>
        </p:nvSpPr>
        <p:spPr>
          <a:xfrm>
            <a:off x="6280190" y="3287077"/>
            <a:ext cx="3501509" cy="3504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Fully functional social platform for academic planning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Intelligent class auto-scheduling with multi-semester support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Peer connections and schedule coordination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 reviews with student-generated feedback</a:t>
            </a:r>
            <a:endParaRPr lang="en-US" sz="1750"/>
          </a:p>
        </p:txBody>
      </p:sp>
      <p:sp>
        <p:nvSpPr>
          <p:cNvPr id="6" name="Text 3"/>
          <p:cNvSpPr/>
          <p:nvPr/>
        </p:nvSpPr>
        <p:spPr>
          <a:xfrm>
            <a:off x="10342721" y="263497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Future Roadmap</a:t>
            </a:r>
            <a:endParaRPr lang="en-US" sz="2650"/>
          </a:p>
        </p:txBody>
      </p:sp>
      <p:sp>
        <p:nvSpPr>
          <p:cNvPr id="7" name="Text 4"/>
          <p:cNvSpPr/>
          <p:nvPr/>
        </p:nvSpPr>
        <p:spPr>
          <a:xfrm>
            <a:off x="10342721" y="3287077"/>
            <a:ext cx="3501509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Collaboration with UC IT department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institutional data integration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Enhanced course data reliability</a:t>
            </a:r>
            <a:endParaRPr lang="en-US" sz="175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Expanded scheduling intelligence</a:t>
            </a:r>
            <a:endParaRPr lang="en-US" sz="17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4988F2-0E67-EA81-7708-5DB83512D649}"/>
              </a:ext>
            </a:extLst>
          </p:cNvPr>
          <p:cNvSpPr/>
          <p:nvPr/>
        </p:nvSpPr>
        <p:spPr>
          <a:xfrm>
            <a:off x="12571561" y="7682400"/>
            <a:ext cx="2044800" cy="4464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D085D37-A48D-BB0C-3C07-6D205ECCF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00" y="2848008"/>
            <a:ext cx="5536800" cy="27207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6">
            <a:extLst>
              <a:ext uri="{FF2B5EF4-FFF2-40B4-BE49-F238E27FC236}">
                <a16:creationId xmlns:a16="http://schemas.microsoft.com/office/drawing/2014/main" id="{4BDDB232-65EE-828B-059C-DCA0F54BDDD5}"/>
              </a:ext>
            </a:extLst>
          </p:cNvPr>
          <p:cNvSpPr/>
          <p:nvPr/>
        </p:nvSpPr>
        <p:spPr>
          <a:xfrm>
            <a:off x="9997381" y="2492758"/>
            <a:ext cx="3989665" cy="1392317"/>
          </a:xfrm>
          <a:prstGeom prst="roundRect">
            <a:avLst>
              <a:gd name="adj" fmla="val 9817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3274695" y="755667"/>
            <a:ext cx="8081010" cy="949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00"/>
              </a:lnSpc>
              <a:buNone/>
            </a:pPr>
            <a:r>
              <a:rPr lang="en-US" sz="2950">
                <a:solidFill>
                  <a:srgbClr val="FFFFFF"/>
                </a:solidFill>
                <a:latin typeface="Saira Medium" pitchFamily="34" charset="0"/>
              </a:rPr>
              <a:t>Project Challenges &amp; Conclusion</a:t>
            </a:r>
            <a:endParaRPr lang="en-US" sz="2950"/>
          </a:p>
        </p:txBody>
      </p:sp>
      <p:sp>
        <p:nvSpPr>
          <p:cNvPr id="5" name="Shape 2"/>
          <p:cNvSpPr/>
          <p:nvPr/>
        </p:nvSpPr>
        <p:spPr>
          <a:xfrm>
            <a:off x="429815" y="2502278"/>
            <a:ext cx="3989665" cy="1392317"/>
          </a:xfrm>
          <a:prstGeom prst="roundRect">
            <a:avLst>
              <a:gd name="adj" fmla="val 9817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13" y="4669989"/>
            <a:ext cx="205026" cy="2050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3354" y="2738890"/>
            <a:ext cx="1898333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450">
                <a:solidFill>
                  <a:srgbClr val="E5E0DF"/>
                </a:solidFill>
                <a:latin typeface="Saira Medium"/>
              </a:rPr>
              <a:t>Algos for Scheduling</a:t>
            </a:r>
            <a:endParaRPr lang="en-US" sz="1450" err="1"/>
          </a:p>
        </p:txBody>
      </p:sp>
      <p:sp>
        <p:nvSpPr>
          <p:cNvPr id="9" name="Text 5"/>
          <p:cNvSpPr/>
          <p:nvPr/>
        </p:nvSpPr>
        <p:spPr>
          <a:xfrm>
            <a:off x="596860" y="5400081"/>
            <a:ext cx="3655576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50"/>
              </a:lnSpc>
            </a:pPr>
            <a:r>
              <a:rPr lang="en-US" sz="1200"/>
              <a:t>Conceptualizing algorithms for auto-scheduling</a:t>
            </a:r>
            <a:endParaRPr lang="en-US" sz="1150"/>
          </a:p>
        </p:txBody>
      </p:sp>
      <p:sp>
        <p:nvSpPr>
          <p:cNvPr id="10" name="Shape 6"/>
          <p:cNvSpPr/>
          <p:nvPr/>
        </p:nvSpPr>
        <p:spPr>
          <a:xfrm>
            <a:off x="5213598" y="2457576"/>
            <a:ext cx="3989665" cy="1392317"/>
          </a:xfrm>
          <a:prstGeom prst="roundRect">
            <a:avLst>
              <a:gd name="adj" fmla="val 9817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3458" y="4669989"/>
            <a:ext cx="205026" cy="2050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53557" y="2694622"/>
            <a:ext cx="2890224" cy="221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450">
                <a:solidFill>
                  <a:srgbClr val="E5E0DF"/>
                </a:solidFill>
                <a:latin typeface="Saira Medium"/>
              </a:rPr>
              <a:t>Implementing Class Restrictions</a:t>
            </a:r>
            <a:endParaRPr lang="en-US" sz="1450"/>
          </a:p>
        </p:txBody>
      </p:sp>
      <p:sp>
        <p:nvSpPr>
          <p:cNvPr id="14" name="Text 9"/>
          <p:cNvSpPr/>
          <p:nvPr/>
        </p:nvSpPr>
        <p:spPr>
          <a:xfrm>
            <a:off x="5453557" y="2999310"/>
            <a:ext cx="3345610" cy="551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50"/>
              </a:lnSpc>
            </a:pPr>
            <a:r>
              <a:rPr lang="en-US" sz="115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Working around restrictions for scheduling</a:t>
            </a: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2113" y="6163986"/>
            <a:ext cx="205026" cy="20502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143815" y="2651626"/>
            <a:ext cx="3122699" cy="36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450">
                <a:solidFill>
                  <a:srgbClr val="E5E0DF"/>
                </a:solidFill>
                <a:latin typeface="Saira Medium"/>
                <a:cs typeface="Arial"/>
              </a:rPr>
              <a:t>Retrieving the classes autonomously</a:t>
            </a:r>
            <a:endParaRPr lang="en-US"/>
          </a:p>
          <a:p>
            <a:pPr marL="0" indent="0" algn="l">
              <a:lnSpc>
                <a:spcPts val="1850"/>
              </a:lnSpc>
              <a:buNone/>
            </a:pPr>
            <a:endParaRPr lang="en-US" sz="1450">
              <a:solidFill>
                <a:srgbClr val="E5E0DF"/>
              </a:solidFill>
              <a:latin typeface="Saira Medium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10097321" y="2973006"/>
            <a:ext cx="7746921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50"/>
              </a:lnSpc>
            </a:pPr>
            <a:r>
              <a:rPr lang="en-US" sz="115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Navigating UC Class Search With Session Hijacking</a:t>
            </a:r>
          </a:p>
        </p:txBody>
      </p:sp>
      <p:sp>
        <p:nvSpPr>
          <p:cNvPr id="20" name="Text 14"/>
          <p:cNvSpPr/>
          <p:nvPr/>
        </p:nvSpPr>
        <p:spPr>
          <a:xfrm>
            <a:off x="564897" y="6799583"/>
            <a:ext cx="7853243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i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"From fragmented tools to unified planning — Gradly helps UC students take control of their academic journey."</a:t>
            </a:r>
            <a:endParaRPr lang="en-US" sz="1150"/>
          </a:p>
        </p:txBody>
      </p:sp>
      <p:sp>
        <p:nvSpPr>
          <p:cNvPr id="21" name="Shape 15"/>
          <p:cNvSpPr/>
          <p:nvPr/>
        </p:nvSpPr>
        <p:spPr>
          <a:xfrm>
            <a:off x="429815" y="6685282"/>
            <a:ext cx="15240" cy="431483"/>
          </a:xfrm>
          <a:prstGeom prst="rect">
            <a:avLst/>
          </a:prstGeom>
          <a:solidFill>
            <a:srgbClr val="FC83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C1DCA3-AE98-B48B-25CB-4A39F40FA343}"/>
              </a:ext>
            </a:extLst>
          </p:cNvPr>
          <p:cNvSpPr/>
          <p:nvPr/>
        </p:nvSpPr>
        <p:spPr>
          <a:xfrm>
            <a:off x="12571561" y="7718400"/>
            <a:ext cx="2044800" cy="4104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9">
            <a:extLst>
              <a:ext uri="{FF2B5EF4-FFF2-40B4-BE49-F238E27FC236}">
                <a16:creationId xmlns:a16="http://schemas.microsoft.com/office/drawing/2014/main" id="{C95EDA9D-A089-3784-A56E-79ACAF42C58C}"/>
              </a:ext>
            </a:extLst>
          </p:cNvPr>
          <p:cNvSpPr/>
          <p:nvPr/>
        </p:nvSpPr>
        <p:spPr>
          <a:xfrm>
            <a:off x="641332" y="3014808"/>
            <a:ext cx="3345610" cy="551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50"/>
              </a:lnSpc>
            </a:pPr>
            <a:r>
              <a:rPr lang="en-US" sz="1150">
                <a:solidFill>
                  <a:srgbClr val="E5E0DF"/>
                </a:solidFill>
                <a:latin typeface="Roboto"/>
                <a:ea typeface="Roboto"/>
                <a:cs typeface="Roboto"/>
              </a:rPr>
              <a:t>Ideating and implementing differing variants of our algo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32C8A5F9-310C-D148-EC3A-125CC00BF794}"/>
              </a:ext>
            </a:extLst>
          </p:cNvPr>
          <p:cNvSpPr/>
          <p:nvPr/>
        </p:nvSpPr>
        <p:spPr>
          <a:xfrm>
            <a:off x="495627" y="458103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endParaRPr lang="en-US" sz="2650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82FFE803-0A7C-B0E6-B7D3-472481122A6C}"/>
              </a:ext>
            </a:extLst>
          </p:cNvPr>
          <p:cNvSpPr/>
          <p:nvPr/>
        </p:nvSpPr>
        <p:spPr>
          <a:xfrm>
            <a:off x="448958" y="4391627"/>
            <a:ext cx="6897997" cy="2252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2850"/>
              </a:lnSpc>
            </a:pPr>
            <a:r>
              <a:rPr lang="en-US"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Despite these challenges, we were able to build a working system that demonstrates the potential of smarter academic planning tools.</a:t>
            </a:r>
          </a:p>
          <a:p>
            <a:pPr algn="just">
              <a:lnSpc>
                <a:spcPts val="2850"/>
              </a:lnSpc>
            </a:pPr>
            <a:r>
              <a:rPr lang="en-US"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By combining automation, peer collaboration, and long-term planning tools, </a:t>
            </a:r>
            <a:r>
              <a:rPr lang="en-US" sz="160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Gradly</a:t>
            </a:r>
            <a:r>
              <a:rPr lang="en-US"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helps students make better academic decisions and stay on track toward graduation.</a:t>
            </a:r>
            <a:endParaRPr lang="en-US" sz="175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0A453D5-85A5-9D09-827B-0A9857609CBB}"/>
              </a:ext>
            </a:extLst>
          </p:cNvPr>
          <p:cNvCxnSpPr/>
          <p:nvPr/>
        </p:nvCxnSpPr>
        <p:spPr>
          <a:xfrm>
            <a:off x="7208431" y="1352398"/>
            <a:ext cx="0" cy="493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8805A51-212B-1C45-AF06-7AA66D804D64}"/>
              </a:ext>
            </a:extLst>
          </p:cNvPr>
          <p:cNvCxnSpPr>
            <a:cxnSpLocks/>
          </p:cNvCxnSpPr>
          <p:nvPr/>
        </p:nvCxnSpPr>
        <p:spPr>
          <a:xfrm flipH="1">
            <a:off x="2424647" y="1846384"/>
            <a:ext cx="4783784" cy="662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6E96D4A-B2FF-E620-43AF-65E6983707BC}"/>
              </a:ext>
            </a:extLst>
          </p:cNvPr>
          <p:cNvCxnSpPr>
            <a:cxnSpLocks/>
          </p:cNvCxnSpPr>
          <p:nvPr/>
        </p:nvCxnSpPr>
        <p:spPr>
          <a:xfrm flipH="1">
            <a:off x="7208430" y="1846384"/>
            <a:ext cx="1" cy="611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F0A81AC-CA8A-E9D7-4B3B-AC78DFA0940C}"/>
              </a:ext>
            </a:extLst>
          </p:cNvPr>
          <p:cNvCxnSpPr>
            <a:endCxn id="24" idx="0"/>
          </p:cNvCxnSpPr>
          <p:nvPr/>
        </p:nvCxnSpPr>
        <p:spPr>
          <a:xfrm>
            <a:off x="7208430" y="1846384"/>
            <a:ext cx="4783784" cy="646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191852E8ED4B4089155EC2968FBF5D" ma:contentTypeVersion="17" ma:contentTypeDescription="Create a new document." ma:contentTypeScope="" ma:versionID="abad7e54f70ca43a1143cb36bc162960">
  <xsd:schema xmlns:xsd="http://www.w3.org/2001/XMLSchema" xmlns:xs="http://www.w3.org/2001/XMLSchema" xmlns:p="http://schemas.microsoft.com/office/2006/metadata/properties" xmlns:ns3="aa7fcbae-7fa6-416f-9e97-011268768de0" xmlns:ns4="119bdebe-f0d3-4653-b534-d3add56c0533" targetNamespace="http://schemas.microsoft.com/office/2006/metadata/properties" ma:root="true" ma:fieldsID="57f757360756b105fe0545c803c72a1e" ns3:_="" ns4:_="">
    <xsd:import namespace="aa7fcbae-7fa6-416f-9e97-011268768de0"/>
    <xsd:import namespace="119bdebe-f0d3-4653-b534-d3add56c0533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7fcbae-7fa6-416f-9e97-011268768de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9bdebe-f0d3-4653-b534-d3add56c05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19bdebe-f0d3-4653-b534-d3add56c0533" xsi:nil="true"/>
  </documentManagement>
</p:properties>
</file>

<file path=customXml/itemProps1.xml><?xml version="1.0" encoding="utf-8"?>
<ds:datastoreItem xmlns:ds="http://schemas.openxmlformats.org/officeDocument/2006/customXml" ds:itemID="{2E582A7E-9733-4B29-A12F-B4E71D3623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81E2D9-31D0-4398-9B8E-3A3AF4078279}">
  <ds:schemaRefs>
    <ds:schemaRef ds:uri="119bdebe-f0d3-4653-b534-d3add56c0533"/>
    <ds:schemaRef ds:uri="aa7fcbae-7fa6-416f-9e97-011268768de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CE98ECC-B6EB-45BF-B669-0C98F087DD9F}">
  <ds:schemaRefs>
    <ds:schemaRef ds:uri="119bdebe-f0d3-4653-b534-d3add56c0533"/>
    <ds:schemaRef ds:uri="aa7fcbae-7fa6-416f-9e97-011268768de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revision>2</cp:revision>
  <dcterms:created xsi:type="dcterms:W3CDTF">2026-03-25T19:57:03Z</dcterms:created>
  <dcterms:modified xsi:type="dcterms:W3CDTF">2026-04-05T22:01:45Z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0x0101005F191852E8ED4B4089155EC2968FBF5D</vt:lpwstr>
  </property>
</Properties>
</file>